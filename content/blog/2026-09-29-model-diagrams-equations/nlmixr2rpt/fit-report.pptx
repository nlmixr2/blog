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gif" ContentType="image/gif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0000"/>
    <a:srgbClr val="E08836"/>
    <a:srgbClr val="DE8400"/>
    <a:srgbClr val="902C10"/>
    <a:srgbClr val="A50021"/>
    <a:srgbClr val="898989"/>
    <a:srgbClr val="C878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8" autoAdjust="0"/>
    <p:restoredTop sz="96405"/>
  </p:normalViewPr>
  <p:slideViewPr>
    <p:cSldViewPr>
      <p:cViewPr varScale="1">
        <p:scale>
          <a:sx n="131" d="100"/>
          <a:sy n="131" d="100"/>
        </p:scale>
        <p:origin x="3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9" d="100"/>
          <a:sy n="99" d="100"/>
        </p:scale>
        <p:origin x="4272" y="1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B5575-5396-4903-B001-2952BE6B9F1B}" type="datetimeFigureOut">
              <a:rPr lang="en-GB" smtClean="0"/>
              <a:t>17/06/2022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2CCE1-13AB-4907-8C53-954A4412C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615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547EB-7C1B-40A0-9C00-7392B48D9156}" type="datetimeFigureOut">
              <a:rPr lang="en-GB" smtClean="0"/>
              <a:t>17/06/2022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989F4-5BC7-45C8-8C9A-BD91344270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4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49CD0D-3304-2010-6F4C-30C08DAD57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7883" y="4876221"/>
            <a:ext cx="3376233" cy="13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8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29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297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49CD0D-3304-2010-6F4C-30C08DAD57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7883" y="4876221"/>
            <a:ext cx="3376233" cy="13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8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header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DC6DC6-C279-6D60-9948-13C3E4D8D8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3392" y="1202136"/>
            <a:ext cx="5395912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Left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828800"/>
            <a:ext cx="5395912" cy="4552950"/>
          </a:xfrm>
        </p:spPr>
        <p:txBody>
          <a:bodyPr/>
          <a:lstStyle/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828800"/>
            <a:ext cx="5395913" cy="4552950"/>
          </a:xfrm>
        </p:spPr>
        <p:txBody>
          <a:bodyPr/>
          <a:lstStyle/>
          <a:p>
            <a:pPr lvl="0"/>
            <a:r>
              <a:rPr lang="en-US" dirty="0"/>
              <a:t>Right list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EB4F9C-92B3-A278-E210-FACFF460524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72200" y="1201738"/>
            <a:ext cx="5395913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Right title</a:t>
            </a:r>
          </a:p>
        </p:txBody>
      </p:sp>
    </p:spTree>
    <p:extLst>
      <p:ext uri="{BB962C8B-B14F-4D97-AF65-F5344CB8AC3E}">
        <p14:creationId xmlns:p14="http://schemas.microsoft.com/office/powerpoint/2010/main" val="4215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head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DC6DC6-C279-6D60-9948-13C3E4D8D8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3392" y="1202136"/>
            <a:ext cx="5395912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Left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828800"/>
            <a:ext cx="5395912" cy="4552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828800"/>
            <a:ext cx="5395913" cy="4552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Right list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EB4F9C-92B3-A278-E210-FACFF460524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72200" y="1201738"/>
            <a:ext cx="5395913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Right title</a:t>
            </a:r>
          </a:p>
        </p:txBody>
      </p:sp>
    </p:spTree>
    <p:extLst>
      <p:ext uri="{BB962C8B-B14F-4D97-AF65-F5344CB8AC3E}">
        <p14:creationId xmlns:p14="http://schemas.microsoft.com/office/powerpoint/2010/main" val="3341299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282430"/>
            <a:ext cx="5395912" cy="5099320"/>
          </a:xfrm>
        </p:spPr>
        <p:txBody>
          <a:bodyPr/>
          <a:lstStyle/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282430"/>
            <a:ext cx="5395913" cy="5099320"/>
          </a:xfrm>
        </p:spPr>
        <p:txBody>
          <a:bodyPr/>
          <a:lstStyle/>
          <a:p>
            <a:pPr lvl="0"/>
            <a:r>
              <a:rPr lang="en-US" dirty="0"/>
              <a:t>Right list</a:t>
            </a:r>
          </a:p>
        </p:txBody>
      </p:sp>
    </p:spTree>
    <p:extLst>
      <p:ext uri="{BB962C8B-B14F-4D97-AF65-F5344CB8AC3E}">
        <p14:creationId xmlns:p14="http://schemas.microsoft.com/office/powerpoint/2010/main" val="386147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282430"/>
            <a:ext cx="5395912" cy="50993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282430"/>
            <a:ext cx="5395913" cy="50993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Right list</a:t>
            </a:r>
          </a:p>
        </p:txBody>
      </p:sp>
    </p:spTree>
    <p:extLst>
      <p:ext uri="{BB962C8B-B14F-4D97-AF65-F5344CB8AC3E}">
        <p14:creationId xmlns:p14="http://schemas.microsoft.com/office/powerpoint/2010/main" val="2926727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31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59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9564" y="6564883"/>
            <a:ext cx="7392821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>
                    <a:lumMod val="75000"/>
                  </a:schemeClr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3392" y="6564883"/>
            <a:ext cx="1056117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0B426CB-3DAD-88F5-2025-3EA5EC89371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8524" y="6239370"/>
            <a:ext cx="1400084" cy="55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9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1" r:id="rId9"/>
    <p:sldLayoutId id="2147483653" r:id="rId10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B40000"/>
          </a:solidFill>
          <a:latin typeface="+mn-lt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2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5c19da74a5d0880b9995c0b38195b56416eb62c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dcf92ec3d324b2d898c97fd53682aaae98e09815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c4ccc7b0041eca8e30ed59b7047d04e4acb6489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c34adc5ab0c67921c325681ec1ce52c550da072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9e103d292d47b6b0d589f67490cb569a86a668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Model structure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Model equations</a:t>
            </a:r>
          </a:p>
        </p:txBody>
      </p:sp>
      <p:graphicFrame>
        <p:nvGraphicFramePr>
          <p:cNvPr id="3" name="Text Placeholder 2"/>
          <p:cNvGraphicFramePr>
            <a:graphicFrameLocks noGrp="true"/>
          </p:cNvGraphicFramePr>
          <p:nvPr/>
        </p:nvGraphicFramePr>
        <p:xfrm rot="0">
          <a:off x="623392" y="1196752"/>
          <a:ext cx="10945216" cy="5184576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ka</m:t>
                                </m:r>
                                <m: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t>⁡</m:t>
                                </m:r>
                                <m:r>
                                  <m:t>(</m:t>
                                </m:r>
                                <m:r>
                                  <m:t>tka</m:t>
                                </m:r>
                                <m:r>
                                  <m:t>+</m:t>
                                </m:r>
                                <m:r>
                                  <m:t>eta</m:t>
                                </m:r>
                                <m:r>
                                  <m:rPr>
                                    <m:sty m:val="p"/>
                                  </m:rPr>
                                  <m:t>.</m:t>
                                </m:r>
                                <m:r>
                                  <m:t>ka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cl</m:t>
                                </m:r>
                                <m: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t>⁡</m:t>
                                </m:r>
                                <m:r>
                                  <m:t>(</m:t>
                                </m:r>
                                <m:r>
                                  <m:t>tcl</m:t>
                                </m:r>
                                <m:r>
                                  <m:t>+</m:t>
                                </m:r>
                                <m:r>
                                  <m:t>eta</m:t>
                                </m:r>
                                <m:r>
                                  <m:rPr>
                                    <m:sty m:val="p"/>
                                  </m:rPr>
                                  <m:t>.</m:t>
                                </m:r>
                                <m:r>
                                  <m:t>cl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v=</m:t>
                                </m:r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t>⁡</m:t>
                                </m:r>
                                <m:r>
                                  <m:t>(</m:t>
                                </m:r>
                                <m:r>
                                  <m:t>tv</m:t>
                                </m:r>
                                <m:r>
                                  <m:t>+</m:t>
                                </m:r>
                                <m:r>
                                  <m:t>eta</m:t>
                                </m:r>
                                <m:r>
                                  <m:rPr>
                                    <m:sty m:val="p"/>
                                  </m:rPr>
                                  <m:t>.</m:t>
                                </m:r>
                                <m:r>
                                  <m:t>v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d</m:t>
                                    </m:r>
                                    <m:r>
                                      <m:rPr>
                                        <m:nor/>
                                      </m:rPr>
                                      <m:t> </m:t>
                                    </m:r>
                                    <m:r>
                                      <m:t>depot</m:t>
                                    </m:r>
                                  </m:num>
                                  <m:den>
                                    <m:r>
                                      <m:t>dt</m:t>
                                    </m:r>
                                  </m:den>
                                </m:f>
                                <m:r>
                                  <m:t>=−</m:t>
                                </m:r>
                                <m:r>
                                  <m:t>ka</m:t>
                                </m:r>
                                <m:r>
                                  <m:t>×</m:t>
                                </m:r>
                                <m:r>
                                  <m:t>depot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d</m:t>
                                    </m:r>
                                    <m:r>
                                      <m:rPr>
                                        <m:nor/>
                                      </m:rPr>
                                      <m:t> </m:t>
                                    </m:r>
                                    <m:r>
                                      <m:t>central</m:t>
                                    </m:r>
                                  </m:num>
                                  <m:den>
                                    <m:r>
                                      <m:t>dt</m:t>
                                    </m:r>
                                  </m:den>
                                </m:f>
                                <m:r>
                                  <m:t>=</m:t>
                                </m:r>
                                <m:r>
                                  <m:t>ka</m:t>
                                </m:r>
                                <m:r>
                                  <m:t>×</m:t>
                                </m:r>
                                <m:r>
                                  <m:t>depot</m:t>
                                </m:r>
                                <m:r>
                                  <m:t>−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cl</m:t>
                                    </m:r>
                                  </m:num>
                                  <m:den>
                                    <m:r>
                                      <m:t>v</m:t>
                                    </m:r>
                                  </m:den>
                                </m:f>
                                <m:r>
                                  <m:t>×</m:t>
                                </m:r>
                                <m:r>
                                  <m:t>central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cp</m:t>
                                </m:r>
                                <m:r>
                                  <m:t>=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central</m:t>
                                    </m:r>
                                  </m:num>
                                  <m:den>
                                    <m:r>
                                      <m:t>v</m:t>
                                    </m:r>
                                  </m:den>
                                </m:f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cp</m:t>
                                </m:r>
                                <m:r>
                                  <m:t>∼add(</m:t>
                                </m:r>
                                <m:r>
                                  <m:t>add</m:t>
                                </m:r>
                                <m:r>
                                  <m:rPr>
                                    <m:sty m:val="p"/>
                                  </m:rPr>
                                  <m:t>.</m:t>
                                </m:r>
                                <m:r>
                                  <m:t>sd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Parameter Estimates</a:t>
            </a:r>
          </a:p>
        </p:txBody>
      </p:sp>
      <p:graphicFrame>
        <p:nvGraphicFramePr>
          <p:cNvPr id="3" name="Text Placeholder 2"/>
          <p:cNvGraphicFramePr>
            <a:graphicFrameLocks noGrp="true"/>
          </p:cNvGraphicFramePr>
          <p:nvPr/>
        </p:nvGraphicFramePr>
        <p:xfrm rot="0">
          <a:off x="623392" y="1196752"/>
          <a:ext cx="10945216" cy="5184576"/>
        </p:xfrm>
        <a:graphic>
          <a:graphicData uri="http://schemas.openxmlformats.org/drawingml/2006/table">
            <a:tbl>
              <a:tblPr/>
              <a:tblGrid>
                <a:gridCol w="993857"/>
                <a:gridCol w="660706"/>
                <a:gridCol w="749587"/>
                <a:gridCol w="667527"/>
                <a:gridCol w="2070530"/>
                <a:gridCol w="975713"/>
                <a:gridCol w="1141675"/>
              </a:tblGrid>
              <a:tr h="3853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Parameter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Est.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%RSE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Back-transformed(95%CI)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BSV(CV%)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Shrink(SD)%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519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tka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0.461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0.192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41.6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1.59 (1.09, 2.31)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71.5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-0.0769&gt;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519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tcl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0.0789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7.80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2.75 (2.36, 3.21)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26.2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3.89&lt;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519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tv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0.0453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1.31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31.6 (28.9, 34.5)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11.2&lt;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519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add.sd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0.697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0.0472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6.77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0.697 (0.604, 0.789)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Observed vs Predicted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CWRES vs Pred and Time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SAEM Stabilization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ccamsPresentation">
  <a:themeElements>
    <a:clrScheme name="Custom 3">
      <a:dk1>
        <a:srgbClr val="3B3B3B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902C10"/>
      </a:accent2>
      <a:accent3>
        <a:srgbClr val="9BBB59"/>
      </a:accent3>
      <a:accent4>
        <a:srgbClr val="8064A2"/>
      </a:accent4>
      <a:accent5>
        <a:srgbClr val="4BACC6"/>
      </a:accent5>
      <a:accent6>
        <a:srgbClr val="E08836"/>
      </a:accent6>
      <a:hlink>
        <a:srgbClr val="902C10"/>
      </a:hlink>
      <a:folHlink>
        <a:srgbClr val="902C1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14DE638-5A32-4AB1-8CA5-820AF9071EC6}" vid="{FC3C1A1D-E4C3-4376-B9E9-5A1F7F3A1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Century Gothic</vt:lpstr>
      <vt:lpstr>OccamsPresentation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subject/>
  <dc:creator>John Harrold</dc:creator>
  <cp:keywords/>
  <dc:description/>
  <cp:lastModifiedBy>matt-fidler</cp:lastModifiedBy>
  <cp:revision>9</cp:revision>
  <dcterms:created xsi:type="dcterms:W3CDTF">2022-06-17T14:02:13Z</dcterms:created>
  <dcterms:modified xsi:type="dcterms:W3CDTF">2026-09-24T13:47:35Z</dcterms:modified>
  <cp:category/>
</cp:coreProperties>
</file>